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366F1"/>
                </a:solidFill>
                <a:latin typeface="Calibri"/>
              </a:defRPr>
            </a:pPr>
            <a:r>
              <a:t>AI Recursive Query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LangGraph Multi-Agent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DA2C2"/>
                </a:solidFill>
                <a:latin typeface="Calibri"/>
              </a:defRPr>
            </a:pPr>
            <a:r>
              <a:t>Technical Architecture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0"/>
            <a:ext cx="109728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LangGraph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4114800"/>
            <a:ext cx="109728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Django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4114800"/>
            <a:ext cx="1097280" cy="36576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React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59" y="4114800"/>
            <a:ext cx="1097280" cy="3657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4114800"/>
            <a:ext cx="1097280" cy="3657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ChromaDB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9" y="4114800"/>
            <a:ext cx="1097280" cy="3657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Redis 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19" y="4114800"/>
            <a:ext cx="1097280" cy="3657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OpenAI GPT-4o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4114800"/>
            <a:ext cx="1097280" cy="36576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DA2C2"/>
                </a:solidFill>
                <a:latin typeface="Calibri"/>
              </a:defRPr>
            </a:pPr>
            <a:r>
              <a:t>Full-Stack Adaptive ReAct QA  |  Multi-Agent Orchestration  |  MCP &amp; A2A Protocols  |  Langfuse Observability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 — 4-Layer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DA2C2"/>
                </a:solidFill>
                <a:latin typeface="Calibri"/>
              </a:defRPr>
            </a:pPr>
            <a:r>
              <a:t>7 Docker Compose services on isolated bridge network (rqt-network)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1005840"/>
          </a:xfrm>
          <a:prstGeom prst="roundRect">
            <a:avLst/>
          </a:prstGeom>
          <a:solidFill>
            <a:srgbClr val="1B3A1B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CAF50"/>
                </a:solidFill>
                <a:latin typeface="Calibri"/>
              </a:defRPr>
            </a:pPr>
            <a:r>
              <a:t>PRESENTATION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28600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React 19 + TypeScript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Zustand State | React Router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554480"/>
            <a:ext cx="228600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Nginx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SPA Routing | Gzip | Security Headers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554480"/>
            <a:ext cx="182880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Mermaid.js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Workflow Visualization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54480"/>
            <a:ext cx="182880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Axios Client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REST + WebSocket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AF50"/>
                </a:solidFill>
                <a:latin typeface="Calibri"/>
              </a:defRPr>
            </a:pPr>
            <a:r>
              <a:t>Port 3082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2240280"/>
            <a:ext cx="0" cy="228600"/>
          </a:xfrm>
          <a:prstGeom prst="line">
            <a:avLst/>
          </a:prstGeom>
          <a:ln w="254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2468880"/>
            <a:ext cx="11247120" cy="1005840"/>
          </a:xfrm>
          <a:prstGeom prst="roundRect">
            <a:avLst/>
          </a:prstGeom>
          <a:solidFill>
            <a:srgbClr val="3E2A0A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800"/>
                </a:solidFill>
                <a:latin typeface="Calibri"/>
              </a:defRPr>
            </a:pPr>
            <a:r>
              <a:t>API GATEWAY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2286000" cy="502920"/>
          </a:xfrm>
          <a:prstGeom prst="round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Express.js (Node 20)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HTTP Proxy + Body Re-serialize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834640"/>
            <a:ext cx="2286000" cy="502920"/>
          </a:xfrm>
          <a:prstGeom prst="round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WebSocket Handler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Real-time Streaming (ws 8.x)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2834640"/>
            <a:ext cx="1828800" cy="502920"/>
          </a:xfrm>
          <a:prstGeom prst="round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Helmet + CORS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Security Middleware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2834640"/>
            <a:ext cx="1828800" cy="502920"/>
          </a:xfrm>
          <a:prstGeom prst="roundRect">
            <a:avLst/>
          </a:prstGeom>
          <a:solidFill>
            <a:srgbClr val="E6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Rate Limiter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express-rate-limit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2926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800"/>
                </a:solidFill>
                <a:latin typeface="Calibri"/>
              </a:defRPr>
            </a:pPr>
            <a:r>
              <a:t>Port 3083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3520440"/>
            <a:ext cx="0" cy="274320"/>
          </a:xfrm>
          <a:prstGeom prst="line">
            <a:avLst/>
          </a:prstGeom>
          <a:ln w="25400">
            <a:solidFill>
              <a:srgbClr val="FF9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" y="3794760"/>
            <a:ext cx="11247120" cy="1371600"/>
          </a:xfrm>
          <a:prstGeom prst="roundRect">
            <a:avLst/>
          </a:prstGeom>
          <a:solidFill>
            <a:srgbClr val="0A1A3E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96F3"/>
                </a:solidFill>
                <a:latin typeface="Calibri"/>
              </a:defRPr>
            </a:pPr>
            <a:r>
              <a:t>BACKEND LAYER — Django 5 + DRF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0520"/>
            <a:ext cx="1645920" cy="41148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agents App</a:t>
            </a:r>
          </a:p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Workflow Execution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0" y="4160520"/>
            <a:ext cx="1645920" cy="41148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documents App</a:t>
            </a:r>
          </a:p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Upload &amp; Search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4160520"/>
            <a:ext cx="1645920" cy="41148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conversations App</a:t>
            </a:r>
          </a:p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Sessions &amp; History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4160520"/>
            <a:ext cx="1645920" cy="411480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analytics App</a:t>
            </a:r>
          </a:p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Dashboard &amp; Feedback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663440"/>
            <a:ext cx="2103120" cy="4114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RecursiveQAWorkflow</a:t>
            </a:r>
          </a:p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LangGraph StateGraph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4663440"/>
            <a:ext cx="2103120" cy="4114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MultiAgentOrchestrator</a:t>
            </a:r>
          </a:p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5 Specialized Agents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0" y="4663440"/>
            <a:ext cx="1371600" cy="4114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MCP Server</a:t>
            </a:r>
          </a:p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Tool Registry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4663440"/>
            <a:ext cx="1371600" cy="41148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A2A Protocol</a:t>
            </a:r>
          </a:p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Agent Discovery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96F3"/>
                </a:solidFill>
                <a:latin typeface="Calibri"/>
              </a:defRPr>
            </a:pPr>
            <a:r>
              <a:t>Port 8043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80760" y="5212080"/>
            <a:ext cx="0" cy="228600"/>
          </a:xfrm>
          <a:prstGeom prst="line">
            <a:avLst/>
          </a:prstGeom>
          <a:ln w="25400">
            <a:solidFill>
              <a:srgbClr val="2196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7200" y="5440680"/>
            <a:ext cx="11247120" cy="1005840"/>
          </a:xfrm>
          <a:prstGeom prst="roundRect">
            <a:avLst/>
          </a:prstGeom>
          <a:solidFill>
            <a:srgbClr val="3E0A0A"/>
          </a:solidFill>
          <a:ln w="1905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4336"/>
                </a:solidFill>
                <a:latin typeface="Calibri"/>
              </a:defRPr>
            </a:pPr>
            <a:r>
              <a:t>DATA &amp; INFRASTRUCTURE LAYER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806440"/>
            <a:ext cx="201168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PostgreSQL 16</a:t>
            </a:r>
          </a:p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Port 5532 | Sessions, Configs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34640" y="5806440"/>
            <a:ext cx="201168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ChromaDB 0.6</a:t>
            </a:r>
          </a:p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Port 8142 | Vector Embeddings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0" y="5806440"/>
            <a:ext cx="201168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Redis 7</a:t>
            </a:r>
          </a:p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Port 6478 | Cache &amp; Channels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5806440"/>
            <a:ext cx="201168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Langfuse</a:t>
            </a:r>
          </a:p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Port 3084 | Observability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35440" y="5806440"/>
            <a:ext cx="2286000" cy="502920"/>
          </a:xfrm>
          <a:prstGeom prst="round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A1A1A"/>
                </a:solidFill>
                <a:latin typeface="Calibri"/>
              </a:defRPr>
            </a:pPr>
            <a:r>
              <a:t>OpenAI API (External)</a:t>
            </a:r>
          </a:p>
          <a:p>
            <a:pPr algn="ctr">
              <a:defRPr sz="900">
                <a:solidFill>
                  <a:srgbClr val="1A1A1A"/>
                </a:solidFill>
                <a:latin typeface="Calibri"/>
              </a:defRPr>
            </a:pPr>
            <a:r>
              <a:t>GPT-4o-mini | ada-002 Embeddings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Adaptive ReAct QA Workflow — LangGraph StateGraph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DA2C2"/>
                </a:solidFill>
                <a:latin typeface="Calibri"/>
              </a:defRPr>
            </a:pPr>
            <a:r>
              <a:t>Recursive question refinement with document grading and conditional branching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1371600" cy="8229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START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Entry 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2011680" cy="8229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generate_query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_or_respond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RAG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560320"/>
            <a:ext cx="1645920" cy="8229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retrieve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(ToolNode)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ChromaDB k=3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2560320"/>
            <a:ext cx="1828800" cy="82296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grade_documents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Binary Scoring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relevant / not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560320"/>
            <a:ext cx="1828800" cy="82296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generate_answer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Context Synthesis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Max 3 Sentences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4023360"/>
            <a:ext cx="1828800" cy="64008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END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Final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4023360"/>
            <a:ext cx="1645920" cy="64008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rewrite_question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Query Refinement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971800"/>
            <a:ext cx="457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28800" y="2286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</a:p>
        </p:txBody>
      </p:sp>
      <p:cxnSp>
        <p:nvCxnSpPr>
          <p:cNvPr id="13" name="Connector 12"/>
          <p:cNvCxnSpPr/>
          <p:nvPr/>
        </p:nvCxnSpPr>
        <p:spPr>
          <a:xfrm>
            <a:off x="4297680" y="2971800"/>
            <a:ext cx="457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EB3B"/>
                </a:solidFill>
                <a:latin typeface="Calibri"/>
              </a:defRPr>
            </a:pPr>
            <a:r>
              <a:t>uses tools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0" y="2971800"/>
            <a:ext cx="457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686800" y="2971800"/>
            <a:ext cx="457200" cy="0"/>
          </a:xfrm>
          <a:prstGeom prst="line">
            <a:avLst/>
          </a:prstGeom>
          <a:ln w="254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0392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CAF50"/>
                </a:solidFill>
                <a:latin typeface="Calibri"/>
              </a:defRPr>
            </a:pPr>
            <a:r>
              <a:t>relevant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58400" y="3383280"/>
            <a:ext cx="0" cy="64008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772400" y="3383280"/>
            <a:ext cx="0" cy="96012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63840" y="3474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44336"/>
                </a:solidFill>
                <a:latin typeface="Calibri"/>
              </a:defRPr>
            </a:pPr>
            <a:r>
              <a:t>not relevant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3291840" y="3383280"/>
            <a:ext cx="1463040" cy="960120"/>
          </a:xfrm>
          <a:prstGeom prst="line">
            <a:avLst/>
          </a:prstGeom>
          <a:ln w="25400">
            <a:solidFill>
              <a:srgbClr val="FF57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74720" y="3840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5722"/>
                </a:solidFill>
                <a:latin typeface="Calibri"/>
              </a:defRPr>
            </a:pPr>
            <a:r>
              <a:t>retry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91840" y="3383280"/>
            <a:ext cx="0" cy="1280160"/>
          </a:xfrm>
          <a:prstGeom prst="line">
            <a:avLst/>
          </a:prstGeom>
          <a:ln w="19050">
            <a:solidFill>
              <a:srgbClr val="9DA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291840" y="4663440"/>
            <a:ext cx="6766560" cy="0"/>
          </a:xfrm>
          <a:prstGeom prst="line">
            <a:avLst/>
          </a:prstGeom>
          <a:ln w="19050">
            <a:solidFill>
              <a:srgbClr val="9DA2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0" y="4709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direct answer (no retrieval needed)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29200"/>
            <a:ext cx="3657600" cy="1371600"/>
          </a:xfrm>
          <a:prstGeom prst="roundRect">
            <a:avLst/>
          </a:prstGeom>
          <a:solidFill>
            <a:srgbClr val="25284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LLM Configuration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Model: gpt-4o-mini | temp=0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max_tokens: 500 (main) / 50 (grader) / 150 (rewriter)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request_timeout: 30s (main) / 15s (grader, rewriter)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max_retries: 1 | recursion_limit: max_iter*2+3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5029200"/>
            <a:ext cx="3657600" cy="1371600"/>
          </a:xfrm>
          <a:prstGeom prst="roundRect">
            <a:avLst/>
          </a:prstGeom>
          <a:solidFill>
            <a:srgbClr val="252840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Vector Store (ChromaDB)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Collection: Research_Papers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Embeddings: text-embedding-ada-002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Chunk Size: 1000 tokens / 200 overlap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Retriever: k=3 similar documents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5029200"/>
            <a:ext cx="3017520" cy="1371600"/>
          </a:xfrm>
          <a:prstGeom prst="roundRect">
            <a:avLst/>
          </a:prstGeom>
          <a:solidFill>
            <a:srgbClr val="252840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State Management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LangGraph MessagesState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Conditional Edges (tool calls)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Execution Trace (JSON)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Mermaid Diagram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Multi-Agent Orchestration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DA2C2"/>
                </a:solidFill>
                <a:latin typeface="Calibri"/>
              </a:defRPr>
            </a:pPr>
            <a:r>
              <a:t>5 specialized agents with critique-revision loop for quality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828800" cy="9144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START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User Query 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2286000"/>
            <a:ext cx="2011680" cy="9144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Research Agent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Search &amp; analyze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research papers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2286000"/>
            <a:ext cx="2011680" cy="9144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QA Specialist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Synthesize findings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into clear answers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286000"/>
            <a:ext cx="2011680" cy="9144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Critique Agent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Quality score (1-10)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Detailed feedback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840480"/>
            <a:ext cx="2011680" cy="73152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Revision Agent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Improve based on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critique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3840480"/>
            <a:ext cx="2011680" cy="73152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Summarizer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Concise final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828800" cy="73152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END</a:t>
            </a: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</a:p>
          <a:p>
            <a:pPr algn="ctr">
              <a:defRPr sz="1000">
                <a:solidFill>
                  <a:srgbClr val="000000"/>
                </a:solidFill>
                <a:latin typeface="Calibri"/>
              </a:defRPr>
            </a:pPr>
            <a:r>
              <a:t>Final Response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743200"/>
            <a:ext cx="457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029200" y="2743200"/>
            <a:ext cx="457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9" y="2743200"/>
            <a:ext cx="457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61120" y="3200400"/>
            <a:ext cx="0" cy="640080"/>
          </a:xfrm>
          <a:prstGeom prst="line">
            <a:avLst/>
          </a:prstGeom>
          <a:ln w="2540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052560" y="3337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44336"/>
                </a:solidFill>
                <a:latin typeface="Calibri"/>
              </a:defRPr>
            </a:pPr>
            <a:r>
              <a:t>needs revision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7498079" y="3200400"/>
            <a:ext cx="457200" cy="1005840"/>
          </a:xfrm>
          <a:prstGeom prst="line">
            <a:avLst/>
          </a:prstGeom>
          <a:ln w="25400">
            <a:solidFill>
              <a:srgbClr val="FF57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5722"/>
                </a:solidFill>
                <a:latin typeface="Calibri"/>
              </a:defRPr>
            </a:pPr>
            <a:r>
              <a:t>re-evaluate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961120" y="1828800"/>
            <a:ext cx="0" cy="457200"/>
          </a:xfrm>
          <a:prstGeom prst="line">
            <a:avLst/>
          </a:prstGeom>
          <a:ln w="1905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023360" y="1828800"/>
            <a:ext cx="4937760" cy="0"/>
          </a:xfrm>
          <a:prstGeom prst="line">
            <a:avLst/>
          </a:prstGeom>
          <a:ln w="1905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23360" y="1828800"/>
            <a:ext cx="0" cy="2011680"/>
          </a:xfrm>
          <a:prstGeom prst="line">
            <a:avLst/>
          </a:prstGeom>
          <a:ln w="1905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0" y="1554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4CAF50"/>
                </a:solidFill>
                <a:latin typeface="Calibri"/>
              </a:defRPr>
            </a:pPr>
            <a:r>
              <a:t>accepted (score &gt;= threshold)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560320" y="4206240"/>
            <a:ext cx="4572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7200" y="5120640"/>
            <a:ext cx="3474720" cy="1280160"/>
          </a:xfrm>
          <a:prstGeom prst="roundRect">
            <a:avLst/>
          </a:prstGeom>
          <a:solidFill>
            <a:srgbClr val="252840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MCP (Model Context Protocol)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Port 8045 | In-memory tool registry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Standardized tool invocation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retrieve_scientific_papers tool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5120640"/>
            <a:ext cx="3474720" cy="1280160"/>
          </a:xfrm>
          <a:prstGeom prst="roundRect">
            <a:avLst/>
          </a:prstGeom>
          <a:solidFill>
            <a:srgbClr val="25284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A2A (Agent-to-Agent)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Port 8044 | Agent discovery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Task delegation &amp; messaging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Protocol version 0.1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5120640"/>
            <a:ext cx="3474720" cy="1280160"/>
          </a:xfrm>
          <a:prstGeom prst="roundRect">
            <a:avLst/>
          </a:prstGeom>
          <a:solidFill>
            <a:srgbClr val="252840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Observability Stack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LangSmith: Workflow tracing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Langfuse: Scoring &amp; evaluation</a:t>
            </a:r>
          </a:p>
          <a:p>
            <a:pPr algn="ctr">
              <a:defRPr sz="1000">
                <a:solidFill>
                  <a:srgbClr val="FFFFFF"/>
                </a:solidFill>
                <a:latin typeface="Calibri"/>
              </a:defRPr>
            </a:pPr>
            <a:r>
              <a:t>Placeholder key auto-detection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API Endpoints &amp; Data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4114800" cy="347472"/>
          </a:xfrm>
          <a:prstGeom prst="roundRect">
            <a:avLst/>
          </a:prstGeom>
          <a:solidFill>
            <a:srgbClr val="252840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4241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96F3"/>
                </a:solidFill>
                <a:latin typeface="Consolas"/>
              </a:defRPr>
            </a:pPr>
            <a:r>
              <a:t>POST /api/agents/execute/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4241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Execute AI query through workflow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08176"/>
            <a:ext cx="4114800" cy="347472"/>
          </a:xfrm>
          <a:prstGeom prst="roundRect">
            <a:avLst/>
          </a:prstGeom>
          <a:solidFill>
            <a:srgbClr val="252840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96F3"/>
                </a:solidFill>
                <a:latin typeface="Consolas"/>
              </a:defRPr>
            </a:pPr>
            <a:r>
              <a:t>GET  /api/agents/executions/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4447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List all workflow executions with traces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10512"/>
            <a:ext cx="4114800" cy="347472"/>
          </a:xfrm>
          <a:prstGeom prst="roundRect">
            <a:avLst/>
          </a:prstGeom>
          <a:solidFill>
            <a:srgbClr val="252840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470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96F3"/>
                </a:solidFill>
                <a:latin typeface="Consolas"/>
              </a:defRPr>
            </a:pPr>
            <a:r>
              <a:t>GET  /api/agents/visualize/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8470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Get Mermaid diagram of workflow 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12848"/>
            <a:ext cx="4114800" cy="347472"/>
          </a:xfrm>
          <a:prstGeom prst="roundRect">
            <a:avLst/>
          </a:prstGeom>
          <a:solidFill>
            <a:srgbClr val="252840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4942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96F3"/>
                </a:solidFill>
                <a:latin typeface="Consolas"/>
              </a:defRPr>
            </a:pPr>
            <a:r>
              <a:t>GET  /api/agents/configs/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2494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CRUD agent configurations (model, temp, prompt)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15184"/>
            <a:ext cx="4114800" cy="347472"/>
          </a:xfrm>
          <a:prstGeom prst="roundRect">
            <a:avLst/>
          </a:prstGeom>
          <a:solidFill>
            <a:srgbClr val="2528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517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CAF50"/>
                </a:solidFill>
                <a:latin typeface="Consolas"/>
              </a:defRPr>
            </a:pPr>
            <a:r>
              <a:t>POST /api/documents/upload/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65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Upload &amp; auto-index document into ChromaDB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17520"/>
            <a:ext cx="4114800" cy="347472"/>
          </a:xfrm>
          <a:prstGeom prst="roundRect">
            <a:avLst/>
          </a:prstGeom>
          <a:solidFill>
            <a:srgbClr val="25284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5409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CAF50"/>
                </a:solidFill>
                <a:latin typeface="Consolas"/>
              </a:defRPr>
            </a:pPr>
            <a:r>
              <a:t>POST /api/documents/search/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0540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Similarity search against vector store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419856"/>
            <a:ext cx="4114800" cy="347472"/>
          </a:xfrm>
          <a:prstGeom prst="roundRect">
            <a:avLst/>
          </a:prstGeom>
          <a:solidFill>
            <a:srgbClr val="25284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45643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800"/>
                </a:solidFill>
                <a:latin typeface="Consolas"/>
              </a:defRPr>
            </a:pPr>
            <a:r>
              <a:t>GET  /api/conversations/sessions/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456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List / create conversation sessions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22191"/>
            <a:ext cx="4114800" cy="347472"/>
          </a:xfrm>
          <a:prstGeom prst="roundRect">
            <a:avLst/>
          </a:prstGeom>
          <a:solidFill>
            <a:srgbClr val="25284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5876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800"/>
                </a:solidFill>
                <a:latin typeface="Consolas"/>
              </a:defRPr>
            </a:pPr>
            <a:r>
              <a:t>GET  /api/conversations/messages/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8587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Message history within a session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24528"/>
            <a:ext cx="4114800" cy="347472"/>
          </a:xfrm>
          <a:prstGeom prst="roundRect">
            <a:avLst/>
          </a:prstGeom>
          <a:solidFill>
            <a:srgbClr val="252840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261104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27B0"/>
                </a:solidFill>
                <a:latin typeface="Consolas"/>
              </a:defRPr>
            </a:pPr>
            <a:r>
              <a:t>GET  /api/analytics/dashboard/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2611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Execution stats, quality scores, metrics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626864"/>
            <a:ext cx="4114800" cy="347472"/>
          </a:xfrm>
          <a:prstGeom prst="roundRect">
            <a:avLst/>
          </a:prstGeom>
          <a:solidFill>
            <a:srgbClr val="252840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663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27B0"/>
                </a:solidFill>
                <a:latin typeface="Consolas"/>
              </a:defRPr>
            </a:pPr>
            <a:r>
              <a:t>POST /api/analytics/feedback/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663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Submit quality feedback (score 0-10)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029200"/>
            <a:ext cx="4114800" cy="347472"/>
          </a:xfrm>
          <a:prstGeom prst="roundRect">
            <a:avLst/>
          </a:prstGeom>
          <a:solidFill>
            <a:srgbClr val="252840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06577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CD4"/>
                </a:solidFill>
                <a:latin typeface="Consolas"/>
              </a:defRPr>
            </a:pPr>
            <a:r>
              <a:t>WS   /ws?session_id=&lt;id&gt;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50657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Real-time workflow streaming (via Gateway)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Database Models (PostgreSQL)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806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  AgentConfig — Agent type, model, temperature, system prompt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007607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  WorkflowExecution — Status, trace, nodes_visited, duration_ms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208775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  Document — File, chunk_count, collection, index 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9943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  DocumentChunk — Content, page_number, embedding_id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611111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  Session — Title, is_active, metadata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812279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  Message — Role (user/assistant/system/tool), content, tool_calls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7013447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  QueryRefinement — Original query, refined query, iteration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7214615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  QualityScore — Score type, score (0-10), feedback 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Request Flow (Query Execution)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49440" y="1463040"/>
            <a:ext cx="320040" cy="320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1508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Browser sends POST to Gateway :3083/api/agents/execute/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49440" y="1874520"/>
            <a:ext cx="320040" cy="3200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1920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Express parses body (express.json), re-serializes for proxy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49440" y="2286000"/>
            <a:ext cx="320040" cy="32004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6640" y="2331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http-proxy-middleware forwards to Django :8043/api/agents/execute/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49440" y="2697480"/>
            <a:ext cx="320040" cy="32004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2743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AgentExecuteView creates WorkflowExecution record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49440" y="3108960"/>
            <a:ext cx="32004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3154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RecursiveQAWorkflow.execute() invokes LangGraph StateGraph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49440" y="3520440"/>
            <a:ext cx="320040" cy="32004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06640" y="3566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generate_query_or_respond decides: direct answer or RAG?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49440" y="3931920"/>
            <a:ext cx="320040" cy="3200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06640" y="39776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If RAG: retrieve → grade_documents → (rewrite loop) → generate_answer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949440" y="4343400"/>
            <a:ext cx="32004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4389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Response saved to DB, returned through Gateway to Browser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0" y="539496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Frontend: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53949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React 19, TypeScript, Zustand, Mermaid.js, Axios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49440" y="55961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Gateway: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63840" y="55961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Node.js 20, Express 4, ws 8, Helmet, http-proxy-middleware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9440" y="579729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Backend: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63840" y="579729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Django 5.1, DRF 3.15, Channels 4.2, Gunicorn + Uvicorn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49440" y="599846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AI/ML: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63840" y="599846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LangChain 0.3, LangGraph 0.6, OpenAI GPT-4o-mini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49440" y="6199631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Vector DB: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3840" y="619963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ChromaDB 0.6 + text-embedding-ada-002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49440" y="6400799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Database: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63840" y="6400799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PostgreSQL 16 + Redis 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49440" y="660196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Observability: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63840" y="6601967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LangSmith + Langfuse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49440" y="6803135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Protocols: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63840" y="6803135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MCP (Model Context Protocol) + A2A (Agent-to-Agent)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49440" y="7004303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Deploy: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63840" y="7004303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Docker Compose (7 services, bridge network)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Deployment &amp; Port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DA2C2"/>
                </a:solidFill>
                <a:latin typeface="Calibri"/>
              </a:defRPr>
            </a:pPr>
            <a:r>
              <a:t>All services use non-default ports to avoid conflicts | Host: 172.168.1.95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01168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188720"/>
            <a:ext cx="91440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188720"/>
            <a:ext cx="274320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188720"/>
            <a:ext cx="201168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Container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AF5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3082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00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React + Nginx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onsolas"/>
              </a:defRPr>
            </a:pPr>
            <a:r>
              <a:t>rqt-frontend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47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800"/>
                </a:solidFill>
                <a:latin typeface="Calibri"/>
              </a:defRPr>
            </a:pPr>
            <a:r>
              <a:t>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9476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3083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947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Express + WebSocket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47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onsolas"/>
              </a:defRPr>
            </a:pPr>
            <a:r>
              <a:t>rqt-gateway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196F3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29514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8043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2951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Django + Gunicorn/Uvicorn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onsolas"/>
              </a:defRPr>
            </a:pPr>
            <a:r>
              <a:t>rqt-backend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6426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4336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6426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5532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64261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Database (16-alpine)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6426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onsolas"/>
              </a:defRPr>
            </a:pPr>
            <a:r>
              <a:t>rqt-postgres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9900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4336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29900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6478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99008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Cache &amp; Channel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9900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onsolas"/>
              </a:defRPr>
            </a:pPr>
            <a:r>
              <a:t>rqt-redis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3375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4336"/>
                </a:solidFill>
                <a:latin typeface="Calibri"/>
              </a:defRPr>
            </a:pPr>
            <a:r>
              <a:t>ChromaDB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33755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8142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3375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Vector Store (0.6.3)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3375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onsolas"/>
              </a:defRPr>
            </a:pPr>
            <a:r>
              <a:t>rqt-chromadb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6850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C27B0"/>
                </a:solidFill>
                <a:latin typeface="Calibri"/>
              </a:defRPr>
            </a:pPr>
            <a:r>
              <a:t>Langfuse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36850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3084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68503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Observability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68503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onsolas"/>
              </a:defRPr>
            </a:pPr>
            <a:r>
              <a:t>rqt-langfuse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03250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MCP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03250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8045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403250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Tool Registry (in-process)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03250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onsolas"/>
              </a:defRPr>
            </a:pPr>
            <a: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37997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Calibri"/>
              </a:defRPr>
            </a:pPr>
            <a:r>
              <a:t>A2A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437997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8044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437997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alibri"/>
              </a:defRPr>
            </a:pPr>
            <a:r>
              <a:t>Agent Discovery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437997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DA2C2"/>
                </a:solidFill>
                <a:latin typeface="Consolas"/>
              </a:defRPr>
            </a:pPr>
            <a: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Quick Start Commands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12064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onsolas"/>
              </a:defRPr>
            </a:pPr>
            <a:r>
              <a:t># Launch entire stack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3035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EB3B"/>
                </a:solidFill>
                <a:latin typeface="Consolas"/>
              </a:defRPr>
            </a:pPr>
            <a:r>
              <a:t>docker compose up --build -d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57784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onsolas"/>
              </a:defRPr>
            </a:pPr>
            <a:r>
              <a:t># View logs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7607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EB3B"/>
                </a:solidFill>
                <a:latin typeface="Consolas"/>
              </a:defRPr>
            </a:pPr>
            <a:r>
              <a:t>docker compose logs -f backend gateway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03504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onsolas"/>
              </a:defRPr>
            </a:pPr>
            <a:r>
              <a:t># Force re-index vector store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2179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EB3B"/>
                </a:solidFill>
                <a:latin typeface="Consolas"/>
              </a:defRPr>
            </a:pPr>
            <a:r>
              <a:t>docker compose exec backend python manage.py initialize_vectorstore --force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9224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onsolas"/>
              </a:defRPr>
            </a:pPr>
            <a:r>
              <a:t># Access points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EB3B"/>
                </a:solidFill>
                <a:latin typeface="Consolas"/>
              </a:defRPr>
            </a:pPr>
            <a:r>
              <a:t>Main App:     http://172.168.1.95:3082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8580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EB3B"/>
                </a:solidFill>
                <a:latin typeface="Consolas"/>
              </a:defRPr>
            </a:pPr>
            <a:r>
              <a:t>API Gateway:  http://172.168.1.95:3083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70408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EB3B"/>
                </a:solidFill>
                <a:latin typeface="Consolas"/>
              </a:defRPr>
            </a:pPr>
            <a:r>
              <a:t>Django Admin: http://172.168.1.95:8043/admin/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72237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EB3B"/>
                </a:solidFill>
                <a:latin typeface="Consolas"/>
              </a:defRPr>
            </a:pPr>
            <a:r>
              <a:t>Langfuse:     http://172.168.1.95:3084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Architecture Decisions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3840" y="16459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Gateway body re-serialization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63840" y="18470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express.json() drains stream before proxy; body is re-serialized in proxyReq handler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22402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Gateway TS recompilation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4414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docker-compose command override: npx tsc &amp;&amp; node dist/index.js for dev hot-reload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283464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Placeholder key detection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0" y="30358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Auto-disables LangSmith/Langfuse when API keys match placeholder patterns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3840" y="342900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Singleton services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6301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Workflow engine, vectorstore, MCP, A2A initialized once in Django AppConfig.ready()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3840" y="40233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Non-default ports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63840" y="42245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All services on non-standard ports (5532, 6478, 8142, etc.) to avoid host conflicts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63840" y="461772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Recursive loop limit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63840" y="48188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DA2C2"/>
                </a:solidFill>
                <a:latin typeface="Calibri"/>
              </a:defRPr>
            </a:pPr>
            <a:r>
              <a:t>max_iterations*2+3 recursion limit prevents infinite ReAct loops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